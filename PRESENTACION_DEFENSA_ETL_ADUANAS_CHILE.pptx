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[00:00 - 00:30] GUION EXPOSITOR 1 (PORTADA):</a:t>
            </a:r>
          </a:p>
          <a:p>
            <a:r>
              <a:t>Estimada profesora Natalia Morales, profesor Sebastián Farías y compañeros. Hoy presentamos nuestra solución integral de ingeniería de datos para el análisis de comercio exterior de Chile, concebida bajo el rol de una empresa consultora especializada en analítica aduanera contratada para modernizar y gobernar la toma de decisiones en Aduanas.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[00:30 - 01:15] GUION EXPOSITOR 1 (FUENTES):</a:t>
            </a:r>
          </a:p>
          <a:p>
            <a:r>
              <a:t>Abordamos el problema como una firma consultora. Aduanas necesitaba controlar sus áreas críticas de comercio exterior sin intervención manual. Seleccionamos dos APIs REST independientes del portal oficial datos.gob.cl, una para Importaciones y otra para Exportaciones. Cumpliendo rigurosamente la pauta, el 100% de los datos se extrae vía API; no hay un solo CSV local. Ambas fuentes se cruzan limpiamente por Aduana, País, Vía de transporte y Período.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[01:15 - 02:00] GUION EXPOSITOR 2 (ARQUITECTURA Y OPTIMIZACIÓN):</a:t>
            </a:r>
          </a:p>
          <a:p>
            <a:r>
              <a:t>Un aspecto clave que incorporamos como recomendación de optimización es el rediseño de la transitoriedad. Las capas Raw y Staging son áreas de aterrizaje efímeras: se vacían en cada corrida del DAG para no almacenar redundancias inútiles. En contraste, el Data Warehouse es el repositorio permanente donde se conserva la historia y donde se realiza el contraste de lo nuevo contra lo existente.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[02:00 - 02:45] GUION EXPOSITOR 2 (MODELO DW E IDEMPOTENCIA):</a:t>
            </a:r>
          </a:p>
          <a:p>
            <a:r>
              <a:t>El modelo dimensional en estrella conecta 4 dimensiones contra la tabla de hechos. Para asegurar la idempotencia técnica, utilizamos 'ON CONFLICT DO UPDATE'. Si corremos el proceso diez veces para el mismo mes, el DW jamás duplica datos. Y como nos indicó la profesora, el contraste de lo nuevo versus lo existente se realiza aquí, en el DW, utilizando las fechas contables y la fecha de carga, sin necesidad de arrastrar datos residuales en staging.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[02:45 - 03:30] GUION EXPOSITOR 3 (AIRFLOW Y SEGURIDAD):</a:t>
            </a:r>
          </a:p>
          <a:p>
            <a:r>
              <a:t>Orquestamos con Apache Airflow en 3 DAGs totalmente desacoplados. Los DAGs 1 y 2 extraen sus respectivas fuentes y disparan automáticamente al DAG 3 de indicadores. Además, el DAG 3 puede correr de forma autónoma porque no depende de internet. Cumplimos estrictamente el principio de Cero Hardcoding: todas las claves y endpoints se leen desde Airflow Connections y Variables.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[03:30 - 04:15] GUION EXPOSITOR 3 (TOLERANCIA A FALLAS Y AUDITORÍA):</a:t>
            </a:r>
          </a:p>
          <a:p>
            <a:r>
              <a:t>Frente a la inestabilidad de las APIs del Estado, implementamos reintentos con 15 segundos de intervalo y un callback de falla. Si un endpoint se cae, el sistema registra el fallo con estado 'FAILED' y el traceback en la tabla etl_audit, permitiendo auditar el incidente sin afectar al resto de los procesos.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[04:15 - 06:15] GUION EXPOSITOR 4 (DEMO EN VIVO):</a:t>
            </a:r>
          </a:p>
          <a:p>
            <a:r>
              <a:t>A continuación realizamos la demostración en vivo exigida por la pauta: 1. Modificamos la variable 'aduanas_api_url_importaciones' con una URL falsa. 2. Disparamos dag_01: observen cómo validar_api entra en reintentos cada 15 segundos y pasa a FAILED. 3. En DBeaver vemos la auditoría en etl_audit con el error. 4. Disparamos dag_02 y corre perfecto en verde, demostrando aislamiento. 5. Restauramos la URL y dag_01 vuelve a SUCCESS en segundos.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[06:15 - 07:00] GUION EXPOSITOR 5 (INDICADORES DE GESTIÓN):</a:t>
            </a:r>
          </a:p>
          <a:p>
            <a:r>
              <a:t>En el Data Mart calculamos 5 indicadores 100% orientados al negocio aduanero y logístico nacional. Monitoreamos balanza comercial por puerto, costos logísticos, concentración portuaria en San Antonio, densidad de valor económico por tonelada y el índice de dependencia por socio comercial para alertar sobreexposiciones económicas.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[07:00 - 07:30] GUION EXPOSITOR 5 (EXPANSIÓN DE INDICADORES):</a:t>
            </a:r>
          </a:p>
          <a:p>
            <a:r>
              <a:t>Como parte de la optimización sugerida en la cátedra, diseñamos una propuesta formal para expandir el Data Mart hacia 4 nuevos indicadores de alto impacto: tiempos de despacho aduanero, recaudación tributaria por aduana, índice de selectividad de aforo físico y huella de carbono logística. La arquitectura modular en estrella permite agregarlos sin alterar las tablas de hechos existentes.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[07:30 - 07:45] GUION EXPOSITOR 5 (ESTRATEGIA DE DATOS):</a:t>
            </a:r>
          </a:p>
          <a:p>
            <a:r>
              <a:t>La estrategia de datos garantiza la calidad y privacidad bajo la ley 19.628, sin almacenar datos sensibles. El pipeline soporta recargas históricas mediante Backfill y está preparado para escalar verticalmente con particionamiento por rangos de fecha en PostgreSQL.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[07:45 - 08:00] GUION EXPOSITOR 5 (LECCIONES APRENDIDAS Y CIERRE):</a:t>
            </a:r>
          </a:p>
          <a:p>
            <a:r>
              <a:t>Los resultados de auditoría confirman la carga exitosa de 5.000 operaciones con cero duplicados. Superamos desafíos técnicos como el mapeo de puertos en Windows y la transitoriedad de staging, consolidando una arquitectura robusta.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[08:00] GUION FINAL DE CIERRE:</a:t>
            </a:r>
          </a:p>
          <a:p>
            <a:r>
              <a:t>En conclusión, nuestra propuesta de consultoría cumple al 100% con los criterios de la rúbrica en nivel Destacado. Agradecemos su atención y quedamos a total disposición de la profesora Natalia y el profesor Sebastián para la ronda de preguntas individuales.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2540"/>
          </a:solidFill>
          <a:ln>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0152" cy="4114800"/>
          </a:xfrm>
          <a:prstGeom prst="rect">
            <a:avLst/>
          </a:prstGeom>
          <a:noFill/>
        </p:spPr>
        <p:txBody>
          <a:bodyPr wrap="square">
            <a:spAutoFit/>
          </a:bodyPr>
          <a:lstStyle/>
          <a:p>
            <a:pPr>
              <a:spcAft>
                <a:spcPts val="1200"/>
              </a:spcAft>
              <a:defRPr sz="1200" b="1">
                <a:solidFill>
                  <a:srgbClr val="0070F3"/>
                </a:solidFill>
                <a:latin typeface="Arial"/>
              </a:defRPr>
            </a:pPr>
            <a:r>
              <a:t>UNIVERSIDAD CATÓLICA DEL MAULE | INF-522 GESTIÓN INFORMÁTICA II</a:t>
            </a:r>
          </a:p>
          <a:p>
            <a:pPr>
              <a:spcAft>
                <a:spcPts val="1400"/>
              </a:spcAft>
              <a:defRPr sz="2600" b="1">
                <a:solidFill>
                  <a:srgbClr val="FFFFFF"/>
                </a:solidFill>
                <a:latin typeface="Arial"/>
              </a:defRPr>
            </a:pPr>
            <a:r>
              <a:t>ARQUITECTURA DE INGENIERÍA DE DATOS, MODELADO DIMENSIONAL Y DATA MART DE ADUANAS DE CHILE</a:t>
            </a:r>
          </a:p>
          <a:p>
            <a:pPr>
              <a:spcAft>
                <a:spcPts val="2800"/>
              </a:spcAft>
              <a:defRPr sz="1400" i="1">
                <a:solidFill>
                  <a:srgbClr val="CBD5E1"/>
                </a:solidFill>
                <a:latin typeface="Arial"/>
              </a:defRPr>
            </a:pPr>
            <a:r>
              <a:t>Propuesta de Consultoría Técnica: Ingesta API REST, Orquestación Airflow y Data Warehouse en PostgreSQL</a:t>
            </a:r>
          </a:p>
          <a:p>
            <a:pPr>
              <a:defRPr sz="1100">
                <a:solidFill>
                  <a:srgbClr val="94A3B8"/>
                </a:solidFill>
                <a:latin typeface="Arial"/>
              </a:defRPr>
            </a:pPr>
            <a:r>
              <a:t>Consultora: DataCustoms Analytics SpA | Integrantes: Ayala, Barrios, Mellado, Troncoso, Valenzuela</a:t>
            </a:r>
            <a:br/>
            <a:r>
              <a:t>Docentes Evaluadores: Natalia Morales | Sebastián Farías  •  Noviembre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A2540"/>
          </a:solidFill>
          <a:ln>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900" b="1">
                <a:solidFill>
                  <a:srgbClr val="0070F3"/>
                </a:solidFill>
                <a:latin typeface="Arial"/>
              </a:defRPr>
            </a:pPr>
            <a:r>
              <a:t>CONSULTORÍA EN INGENIERÍA DE DATOS | INF-522</a:t>
            </a:r>
          </a:p>
        </p:txBody>
      </p:sp>
      <p:sp>
        <p:nvSpPr>
          <p:cNvPr id="4" name="TextBox 3"/>
          <p:cNvSpPr txBox="1"/>
          <p:nvPr/>
        </p:nvSpPr>
        <p:spPr>
          <a:xfrm>
            <a:off x="731520" y="347472"/>
            <a:ext cx="10515600" cy="548640"/>
          </a:xfrm>
          <a:prstGeom prst="rect">
            <a:avLst/>
          </a:prstGeom>
          <a:noFill/>
        </p:spPr>
        <p:txBody>
          <a:bodyPr wrap="square">
            <a:spAutoFit/>
          </a:bodyPr>
          <a:lstStyle/>
          <a:p>
            <a:pPr>
              <a:defRPr sz="2000" b="1">
                <a:solidFill>
                  <a:srgbClr val="FFFFFF"/>
                </a:solidFill>
                <a:latin typeface="Arial"/>
              </a:defRPr>
            </a:pPr>
            <a:r>
              <a:t>1. Desafío de Gestión Aduanera y Selección de Fuentes (datos.gob.cl)</a:t>
            </a:r>
          </a:p>
        </p:txBody>
      </p:sp>
      <p:sp>
        <p:nvSpPr>
          <p:cNvPr id="5" name="Rounded Rectangle 4"/>
          <p:cNvSpPr/>
          <p:nvPr/>
        </p:nvSpPr>
        <p:spPr>
          <a:xfrm>
            <a:off x="731520" y="1371600"/>
            <a:ext cx="5120640" cy="4937760"/>
          </a:xfrm>
          <a:prstGeom prst="roundRect">
            <a:avLst/>
          </a:prstGeom>
          <a:solidFill>
            <a:srgbClr val="F8FAFC"/>
          </a:solidFill>
          <a:ln w="19050">
            <a:solidFill>
              <a:srgbClr val="0070F3"/>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El Desafío de la Consultoría</a:t>
            </a:r>
          </a:p>
          <a:p>
            <a:pPr>
              <a:spcAft>
                <a:spcPts val="400"/>
              </a:spcAft>
              <a:defRPr sz="1000">
                <a:solidFill>
                  <a:srgbClr val="1E293B"/>
                </a:solidFill>
                <a:latin typeface="Arial"/>
              </a:defRPr>
            </a:pPr>
            <a:r>
              <a:t>• Cliente: Servicio Nacional de Aduanas y actores logísticos nacionales.</a:t>
            </a:r>
          </a:p>
          <a:p>
            <a:pPr>
              <a:spcAft>
                <a:spcPts val="400"/>
              </a:spcAft>
              <a:defRPr sz="1000">
                <a:solidFill>
                  <a:srgbClr val="1E293B"/>
                </a:solidFill>
                <a:latin typeface="Arial"/>
              </a:defRPr>
            </a:pPr>
            <a:r>
              <a:t>• Problema: Datos dispersos, planillas locales con error humano y falta de contraste histórico.</a:t>
            </a:r>
          </a:p>
          <a:p>
            <a:pPr>
              <a:spcAft>
                <a:spcPts val="400"/>
              </a:spcAft>
              <a:defRPr sz="1000">
                <a:solidFill>
                  <a:srgbClr val="1E293B"/>
                </a:solidFill>
                <a:latin typeface="Arial"/>
              </a:defRPr>
            </a:pPr>
            <a:r>
              <a:t>• Objetivo: Diseñar un flujo automatizado de extremo a extremo gobernado por ingeniería de datos.</a:t>
            </a:r>
          </a:p>
          <a:p>
            <a:pPr>
              <a:spcAft>
                <a:spcPts val="400"/>
              </a:spcAft>
              <a:defRPr sz="1000">
                <a:solidFill>
                  <a:srgbClr val="1E293B"/>
                </a:solidFill>
                <a:latin typeface="Arial"/>
              </a:defRPr>
            </a:pPr>
            <a:r>
              <a:t>• Restricción Estricta Pauta: Cero archivos planos locales (.csv, .xlsx) ni descargas manuales.</a:t>
            </a:r>
          </a:p>
          <a:p>
            <a:pPr>
              <a:spcAft>
                <a:spcPts val="400"/>
              </a:spcAft>
              <a:defRPr sz="1000">
                <a:solidFill>
                  <a:srgbClr val="1E293B"/>
                </a:solidFill>
                <a:latin typeface="Arial"/>
              </a:defRPr>
            </a:pPr>
            <a:r>
              <a:t>• Principio de Ingesta: 100% consumo programático mediante peticiones HTTP REST.</a:t>
            </a:r>
          </a:p>
        </p:txBody>
      </p:sp>
      <p:sp>
        <p:nvSpPr>
          <p:cNvPr id="6" name="Rounded Rectangle 5"/>
          <p:cNvSpPr/>
          <p:nvPr/>
        </p:nvSpPr>
        <p:spPr>
          <a:xfrm>
            <a:off x="6217920" y="1371600"/>
            <a:ext cx="5120640" cy="493776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Fuentes Seleccionadas y Campos de Cruce</a:t>
            </a:r>
          </a:p>
          <a:p>
            <a:pPr>
              <a:spcAft>
                <a:spcPts val="400"/>
              </a:spcAft>
              <a:defRPr sz="1000">
                <a:solidFill>
                  <a:srgbClr val="1E293B"/>
                </a:solidFill>
                <a:latin typeface="Arial"/>
              </a:defRPr>
            </a:pPr>
            <a:r>
              <a:t>• Endpoint 1 (Importaciones DIN): Resource ID c2211d9e-4c8e... (32.117+ registros).</a:t>
            </a:r>
          </a:p>
          <a:p>
            <a:pPr>
              <a:spcAft>
                <a:spcPts val="400"/>
              </a:spcAft>
              <a:defRPr sz="1000">
                <a:solidFill>
                  <a:srgbClr val="1E293B"/>
                </a:solidFill>
                <a:latin typeface="Arial"/>
              </a:defRPr>
            </a:pPr>
            <a:r>
              <a:t>• Endpoint 2 (Exportaciones DUS): Resource ID f6fe6014-e353... (55.331+ registros).</a:t>
            </a:r>
          </a:p>
          <a:p>
            <a:pPr>
              <a:spcAft>
                <a:spcPts val="400"/>
              </a:spcAft>
              <a:defRPr sz="1000">
                <a:solidFill>
                  <a:srgbClr val="1E293B"/>
                </a:solidFill>
                <a:latin typeface="Arial"/>
              </a:defRPr>
            </a:pPr>
            <a:r>
              <a:t>• Protocolo: CKAN DataStore API en formato JSON nativo con paginación.</a:t>
            </a:r>
          </a:p>
          <a:p>
            <a:pPr>
              <a:spcAft>
                <a:spcPts val="400"/>
              </a:spcAft>
              <a:defRPr sz="1000">
                <a:solidFill>
                  <a:srgbClr val="1E293B"/>
                </a:solidFill>
                <a:latin typeface="Arial"/>
              </a:defRPr>
            </a:pPr>
            <a:r>
              <a:t>• Eje de Cruce 1: Código y Nombre de Aduana nacional de fiscalización.</a:t>
            </a:r>
          </a:p>
          <a:p>
            <a:pPr>
              <a:spcAft>
                <a:spcPts val="400"/>
              </a:spcAft>
              <a:defRPr sz="1000">
                <a:solidFill>
                  <a:srgbClr val="1E293B"/>
                </a:solidFill>
                <a:latin typeface="Arial"/>
              </a:defRPr>
            </a:pPr>
            <a:r>
              <a:t>• Eje de Cruce 2: País socio comercial de procedencia o destino.</a:t>
            </a:r>
          </a:p>
          <a:p>
            <a:pPr>
              <a:spcAft>
                <a:spcPts val="400"/>
              </a:spcAft>
              <a:defRPr sz="1000">
                <a:solidFill>
                  <a:srgbClr val="1E293B"/>
                </a:solidFill>
                <a:latin typeface="Arial"/>
              </a:defRPr>
            </a:pPr>
            <a:r>
              <a:t>• Eje de Cruce 3: Modo y vía de transporte internacional.</a:t>
            </a:r>
          </a:p>
          <a:p>
            <a:pPr>
              <a:spcAft>
                <a:spcPts val="400"/>
              </a:spcAft>
              <a:defRPr sz="1000">
                <a:solidFill>
                  <a:srgbClr val="1E293B"/>
                </a:solidFill>
                <a:latin typeface="Arial"/>
              </a:defRPr>
            </a:pPr>
            <a:r>
              <a:t>• Eje de Cruce 4: Período temporal contable (año, mes, fecha).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A2540"/>
          </a:solidFill>
          <a:ln>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900" b="1">
                <a:solidFill>
                  <a:srgbClr val="0070F3"/>
                </a:solidFill>
                <a:latin typeface="Arial"/>
              </a:defRPr>
            </a:pPr>
            <a:r>
              <a:t>CONSULTORÍA EN INGENIERÍA DE DATOS | INF-522</a:t>
            </a:r>
          </a:p>
        </p:txBody>
      </p:sp>
      <p:sp>
        <p:nvSpPr>
          <p:cNvPr id="4" name="TextBox 3"/>
          <p:cNvSpPr txBox="1"/>
          <p:nvPr/>
        </p:nvSpPr>
        <p:spPr>
          <a:xfrm>
            <a:off x="731520" y="347472"/>
            <a:ext cx="10515600" cy="548640"/>
          </a:xfrm>
          <a:prstGeom prst="rect">
            <a:avLst/>
          </a:prstGeom>
          <a:noFill/>
        </p:spPr>
        <p:txBody>
          <a:bodyPr wrap="square">
            <a:spAutoFit/>
          </a:bodyPr>
          <a:lstStyle/>
          <a:p>
            <a:pPr>
              <a:defRPr sz="2000" b="1">
                <a:solidFill>
                  <a:srgbClr val="FFFFFF"/>
                </a:solidFill>
                <a:latin typeface="Arial"/>
              </a:defRPr>
            </a:pPr>
            <a:r>
              <a:t>2. Arquitectura en 4 Capas: Transitoriedad y Persistencia</a:t>
            </a:r>
          </a:p>
        </p:txBody>
      </p:sp>
      <p:sp>
        <p:nvSpPr>
          <p:cNvPr id="5" name="Rounded Rectangle 4"/>
          <p:cNvSpPr/>
          <p:nvPr/>
        </p:nvSpPr>
        <p:spPr>
          <a:xfrm>
            <a:off x="731520" y="1371600"/>
            <a:ext cx="2468880" cy="493776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1. Capa Raw</a:t>
            </a:r>
            <a:br/>
            <a:r>
              <a:t>(Área Transitoria)</a:t>
            </a:r>
          </a:p>
          <a:p>
            <a:pPr>
              <a:spcAft>
                <a:spcPts val="400"/>
              </a:spcAft>
              <a:defRPr sz="1000">
                <a:solidFill>
                  <a:srgbClr val="1E293B"/>
                </a:solidFill>
                <a:latin typeface="Arial"/>
              </a:defRPr>
            </a:pPr>
            <a:r>
              <a:t>• Tablas: raw.*_raw.</a:t>
            </a:r>
          </a:p>
          <a:p>
            <a:pPr>
              <a:spcAft>
                <a:spcPts val="400"/>
              </a:spcAft>
              <a:defRPr sz="1000">
                <a:solidFill>
                  <a:srgbClr val="1E293B"/>
                </a:solidFill>
                <a:latin typeface="Arial"/>
              </a:defRPr>
            </a:pPr>
            <a:r>
              <a:t>• Payload JSONB intacto tal como responde la API.</a:t>
            </a:r>
          </a:p>
          <a:p>
            <a:pPr>
              <a:spcAft>
                <a:spcPts val="400"/>
              </a:spcAft>
              <a:defRPr sz="1000">
                <a:solidFill>
                  <a:srgbClr val="1E293B"/>
                </a:solidFill>
                <a:latin typeface="Arial"/>
              </a:defRPr>
            </a:pPr>
            <a:r>
              <a:t>• Vaciado en cada DAG Run (TRUNCATE) para no acumular basura temporal.</a:t>
            </a:r>
          </a:p>
          <a:p>
            <a:pPr>
              <a:spcAft>
                <a:spcPts val="400"/>
              </a:spcAft>
              <a:defRPr sz="1000">
                <a:solidFill>
                  <a:srgbClr val="1E293B"/>
                </a:solidFill>
                <a:latin typeface="Arial"/>
              </a:defRPr>
            </a:pPr>
            <a:r>
              <a:t>• Auditoría: run_id, fecha_logical y timestamp.</a:t>
            </a:r>
          </a:p>
        </p:txBody>
      </p:sp>
      <p:sp>
        <p:nvSpPr>
          <p:cNvPr id="6" name="Rounded Rectangle 5"/>
          <p:cNvSpPr/>
          <p:nvPr/>
        </p:nvSpPr>
        <p:spPr>
          <a:xfrm>
            <a:off x="3474720" y="1371600"/>
            <a:ext cx="2468880" cy="493776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2. Capa Staging</a:t>
            </a:r>
            <a:br/>
            <a:r>
              <a:t>(Área Transitoria)</a:t>
            </a:r>
          </a:p>
          <a:p>
            <a:pPr>
              <a:spcAft>
                <a:spcPts val="400"/>
              </a:spcAft>
              <a:defRPr sz="1000">
                <a:solidFill>
                  <a:srgbClr val="1E293B"/>
                </a:solidFill>
                <a:latin typeface="Arial"/>
              </a:defRPr>
            </a:pPr>
            <a:r>
              <a:t>• Tabla: staging.stg_operaciones.</a:t>
            </a:r>
          </a:p>
          <a:p>
            <a:pPr>
              <a:spcAft>
                <a:spcPts val="400"/>
              </a:spcAft>
              <a:defRPr sz="1000">
                <a:solidFill>
                  <a:srgbClr val="1E293B"/>
                </a:solidFill>
                <a:latin typeface="Arial"/>
              </a:defRPr>
            </a:pPr>
            <a:r>
              <a:t>• Tipado, depuración, recodificación oficial y cálculo de % nulos.</a:t>
            </a:r>
          </a:p>
          <a:p>
            <a:pPr>
              <a:spcAft>
                <a:spcPts val="400"/>
              </a:spcAft>
              <a:defRPr sz="1000">
                <a:solidFill>
                  <a:srgbClr val="1E293B"/>
                </a:solidFill>
                <a:latin typeface="Arial"/>
              </a:defRPr>
            </a:pPr>
            <a:r>
              <a:t>• Limpieza previa por flujo (DELETE por tipo_flujo).</a:t>
            </a:r>
          </a:p>
          <a:p>
            <a:pPr>
              <a:spcAft>
                <a:spcPts val="400"/>
              </a:spcAft>
              <a:defRPr sz="1000">
                <a:solidFill>
                  <a:srgbClr val="1E293B"/>
                </a:solidFill>
                <a:latin typeface="Arial"/>
              </a:defRPr>
            </a:pPr>
            <a:r>
              <a:t>• Deduplicación estricta por codigo_operacion.</a:t>
            </a:r>
          </a:p>
        </p:txBody>
      </p:sp>
      <p:sp>
        <p:nvSpPr>
          <p:cNvPr id="7" name="Rounded Rectangle 6"/>
          <p:cNvSpPr/>
          <p:nvPr/>
        </p:nvSpPr>
        <p:spPr>
          <a:xfrm>
            <a:off x="6217920" y="1371600"/>
            <a:ext cx="2468880" cy="493776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3. Capa DW</a:t>
            </a:r>
            <a:br/>
            <a:r>
              <a:t>(Histórico Permanente)</a:t>
            </a:r>
          </a:p>
          <a:p>
            <a:pPr>
              <a:spcAft>
                <a:spcPts val="400"/>
              </a:spcAft>
              <a:defRPr sz="1000">
                <a:solidFill>
                  <a:srgbClr val="1E293B"/>
                </a:solidFill>
                <a:latin typeface="Arial"/>
              </a:defRPr>
            </a:pPr>
            <a:r>
              <a:t>• Esquema en Estrella (Kimball): 4 Dimensiones + 1 Hechos.</a:t>
            </a:r>
          </a:p>
          <a:p>
            <a:pPr>
              <a:spcAft>
                <a:spcPts val="400"/>
              </a:spcAft>
              <a:defRPr sz="1000">
                <a:solidFill>
                  <a:srgbClr val="1E293B"/>
                </a:solidFill>
                <a:latin typeface="Arial"/>
              </a:defRPr>
            </a:pPr>
            <a:r>
              <a:t>• AQUÍ se hace el contraste de lo nuevo vs lo existente.</a:t>
            </a:r>
          </a:p>
          <a:p>
            <a:pPr>
              <a:spcAft>
                <a:spcPts val="400"/>
              </a:spcAft>
              <a:defRPr sz="1000">
                <a:solidFill>
                  <a:srgbClr val="1E293B"/>
                </a:solidFill>
                <a:latin typeface="Arial"/>
              </a:defRPr>
            </a:pPr>
            <a:r>
              <a:t>• Persistencia definitiva mediante claves foráneas y fechas de negocio.</a:t>
            </a:r>
          </a:p>
        </p:txBody>
      </p:sp>
      <p:sp>
        <p:nvSpPr>
          <p:cNvPr id="8" name="Rounded Rectangle 7"/>
          <p:cNvSpPr/>
          <p:nvPr/>
        </p:nvSpPr>
        <p:spPr>
          <a:xfrm>
            <a:off x="8961120" y="1371600"/>
            <a:ext cx="2468880" cy="4937760"/>
          </a:xfrm>
          <a:prstGeom prst="roundRect">
            <a:avLst/>
          </a:prstGeom>
          <a:solidFill>
            <a:srgbClr val="F8FAFC"/>
          </a:solidFill>
          <a:ln w="19050">
            <a:solidFill>
              <a:srgbClr val="0070F3"/>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4. Capa Mart &amp; Audit</a:t>
            </a:r>
            <a:br/>
            <a:r>
              <a:t>(Inteligencia)</a:t>
            </a:r>
          </a:p>
          <a:p>
            <a:pPr>
              <a:spcAft>
                <a:spcPts val="400"/>
              </a:spcAft>
              <a:defRPr sz="1000">
                <a:solidFill>
                  <a:srgbClr val="1E293B"/>
                </a:solidFill>
                <a:latin typeface="Arial"/>
              </a:defRPr>
            </a:pPr>
            <a:r>
              <a:t>• Data Mart: 5 tablas de KPIs agregados calculados en SQL.</a:t>
            </a:r>
          </a:p>
          <a:p>
            <a:pPr>
              <a:spcAft>
                <a:spcPts val="400"/>
              </a:spcAft>
              <a:defRPr sz="1000">
                <a:solidFill>
                  <a:srgbClr val="1E293B"/>
                </a:solidFill>
                <a:latin typeface="Arial"/>
              </a:defRPr>
            </a:pPr>
            <a:r>
              <a:t>• public.etl_audit: Auditoría forense de cada corrida.</a:t>
            </a:r>
          </a:p>
          <a:p>
            <a:pPr>
              <a:spcAft>
                <a:spcPts val="400"/>
              </a:spcAft>
              <a:defRPr sz="1000">
                <a:solidFill>
                  <a:srgbClr val="1E293B"/>
                </a:solidFill>
                <a:latin typeface="Arial"/>
              </a:defRPr>
            </a:pPr>
            <a:r>
              <a:t>• Gobernanza completa de calidad y trazabilidad.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A2540"/>
          </a:solidFill>
          <a:ln>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900" b="1">
                <a:solidFill>
                  <a:srgbClr val="0070F3"/>
                </a:solidFill>
                <a:latin typeface="Arial"/>
              </a:defRPr>
            </a:pPr>
            <a:r>
              <a:t>CONSULTORÍA EN INGENIERÍA DE DATOS | INF-522</a:t>
            </a:r>
          </a:p>
        </p:txBody>
      </p:sp>
      <p:sp>
        <p:nvSpPr>
          <p:cNvPr id="4" name="TextBox 3"/>
          <p:cNvSpPr txBox="1"/>
          <p:nvPr/>
        </p:nvSpPr>
        <p:spPr>
          <a:xfrm>
            <a:off x="731520" y="347472"/>
            <a:ext cx="10515600" cy="548640"/>
          </a:xfrm>
          <a:prstGeom prst="rect">
            <a:avLst/>
          </a:prstGeom>
          <a:noFill/>
        </p:spPr>
        <p:txBody>
          <a:bodyPr wrap="square">
            <a:spAutoFit/>
          </a:bodyPr>
          <a:lstStyle/>
          <a:p>
            <a:pPr>
              <a:defRPr sz="2000" b="1">
                <a:solidFill>
                  <a:srgbClr val="FFFFFF"/>
                </a:solidFill>
                <a:latin typeface="Arial"/>
              </a:defRPr>
            </a:pPr>
            <a:r>
              <a:t>3. Modelo Dimensional en Estrella y Contraste Histórico en DW</a:t>
            </a:r>
          </a:p>
        </p:txBody>
      </p:sp>
      <p:sp>
        <p:nvSpPr>
          <p:cNvPr id="5" name="Rounded Rectangle 4"/>
          <p:cNvSpPr/>
          <p:nvPr/>
        </p:nvSpPr>
        <p:spPr>
          <a:xfrm>
            <a:off x="731520" y="1371600"/>
            <a:ext cx="5120640" cy="4937760"/>
          </a:xfrm>
          <a:prstGeom prst="roundRect">
            <a:avLst/>
          </a:prstGeom>
          <a:solidFill>
            <a:srgbClr val="F8FAFC"/>
          </a:solidFill>
          <a:ln w="19050">
            <a:solidFill>
              <a:srgbClr val="0070F3"/>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Modelo en Estrella (4 Dimensiones + Hechos)</a:t>
            </a:r>
          </a:p>
          <a:p>
            <a:pPr>
              <a:spcAft>
                <a:spcPts val="400"/>
              </a:spcAft>
              <a:defRPr sz="1000">
                <a:solidFill>
                  <a:srgbClr val="1E293B"/>
                </a:solidFill>
                <a:latin typeface="Arial"/>
              </a:defRPr>
            </a:pPr>
            <a:r>
              <a:t>• dw.dim_tiempo: id_tiempo (YYYYMMDD), anio, mes, nombre_mes, trimestre, semestre.</a:t>
            </a:r>
          </a:p>
          <a:p>
            <a:pPr>
              <a:spcAft>
                <a:spcPts val="400"/>
              </a:spcAft>
              <a:defRPr sz="1000">
                <a:solidFill>
                  <a:srgbClr val="1E293B"/>
                </a:solidFill>
                <a:latin typeface="Arial"/>
              </a:defRPr>
            </a:pPr>
            <a:r>
              <a:t>• dw.dim_aduana: codigo_aduana, nombre_aduana, zona_geografica (Norte, Centro, Sur, Austral).</a:t>
            </a:r>
          </a:p>
          <a:p>
            <a:pPr>
              <a:spcAft>
                <a:spcPts val="400"/>
              </a:spcAft>
              <a:defRPr sz="1000">
                <a:solidFill>
                  <a:srgbClr val="1E293B"/>
                </a:solidFill>
                <a:latin typeface="Arial"/>
              </a:defRPr>
            </a:pPr>
            <a:r>
              <a:t>• dw.dim_pais: codigo_pais, nombre_pais, continente_region.</a:t>
            </a:r>
          </a:p>
          <a:p>
            <a:pPr>
              <a:spcAft>
                <a:spcPts val="400"/>
              </a:spcAft>
              <a:defRPr sz="1000">
                <a:solidFill>
                  <a:srgbClr val="1E293B"/>
                </a:solidFill>
                <a:latin typeface="Arial"/>
              </a:defRPr>
            </a:pPr>
            <a:r>
              <a:t>• dw.dim_via_transporte: codigo_via, nombre_via_transporte (Marítima, Aérea, Terrestre, etc.).</a:t>
            </a:r>
          </a:p>
          <a:p>
            <a:pPr>
              <a:spcAft>
                <a:spcPts val="400"/>
              </a:spcAft>
              <a:defRPr sz="1000">
                <a:solidFill>
                  <a:srgbClr val="1E293B"/>
                </a:solidFill>
                <a:latin typeface="Arial"/>
              </a:defRPr>
            </a:pPr>
            <a:r>
              <a:t>• dw.fact_comercio_exterior: Grano a nivel de declaración aduanera. Métricas monetarias (FOB, Flete, Seguro, CIF) y físicas (Kg, Toneladas, Bultos).</a:t>
            </a:r>
          </a:p>
        </p:txBody>
      </p:sp>
      <p:sp>
        <p:nvSpPr>
          <p:cNvPr id="6" name="Rounded Rectangle 5"/>
          <p:cNvSpPr/>
          <p:nvPr/>
        </p:nvSpPr>
        <p:spPr>
          <a:xfrm>
            <a:off x="6217920" y="1371600"/>
            <a:ext cx="5120640" cy="4937760"/>
          </a:xfrm>
          <a:prstGeom prst="roundRect">
            <a:avLst/>
          </a:prstGeom>
          <a:solidFill>
            <a:srgbClr val="F8FAFC"/>
          </a:solidFill>
          <a:ln w="19050">
            <a:solidFill>
              <a:srgbClr val="0070F3"/>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Idempotencia y Contraste de lo Nuevo</a:t>
            </a:r>
          </a:p>
          <a:p>
            <a:pPr>
              <a:spcAft>
                <a:spcPts val="400"/>
              </a:spcAft>
              <a:defRPr sz="1000">
                <a:solidFill>
                  <a:srgbClr val="1E293B"/>
                </a:solidFill>
                <a:latin typeface="Arial"/>
              </a:defRPr>
            </a:pPr>
            <a:r>
              <a:t>• Contraste en el DW: El Data Warehouse conserva los datos históricos consolidados a lo largo del tiempo.</a:t>
            </a:r>
          </a:p>
          <a:p>
            <a:pPr>
              <a:spcAft>
                <a:spcPts val="400"/>
              </a:spcAft>
              <a:defRPr sz="1000">
                <a:solidFill>
                  <a:srgbClr val="1E293B"/>
                </a:solidFill>
                <a:latin typeface="Arial"/>
              </a:defRPr>
            </a:pPr>
            <a:r>
              <a:t>• El Rol de las Fechas: dim_tiempo.fecha permite analizar tendencias temporales y fecha_carga_dw registra cuándo se actualizó.</a:t>
            </a:r>
          </a:p>
          <a:p>
            <a:pPr>
              <a:spcAft>
                <a:spcPts val="400"/>
              </a:spcAft>
              <a:defRPr sz="1000">
                <a:solidFill>
                  <a:srgbClr val="1E293B"/>
                </a:solidFill>
                <a:latin typeface="Arial"/>
              </a:defRPr>
            </a:pPr>
            <a:r>
              <a:t>• Cláusula ON CONFLICT (codigo_operacion) DO UPDATE: Si el registro ya existe, se actualizan sus métricas atómicamente; si es nuevo, se inserta.</a:t>
            </a:r>
          </a:p>
          <a:p>
            <a:pPr>
              <a:spcAft>
                <a:spcPts val="400"/>
              </a:spcAft>
              <a:defRPr sz="1000">
                <a:solidFill>
                  <a:srgbClr val="1E293B"/>
                </a:solidFill>
                <a:latin typeface="Arial"/>
              </a:defRPr>
            </a:pPr>
            <a:r>
              <a:t>• Tolerancia a Reprocesamientos: Se pueden re-ejecutar DAGs o cargar rangos históricos (backfill) sin duplicación alguna.</a:t>
            </a:r>
          </a:p>
          <a:p>
            <a:pPr>
              <a:spcAft>
                <a:spcPts val="400"/>
              </a:spcAft>
              <a:defRPr sz="1000">
                <a:solidFill>
                  <a:srgbClr val="1E293B"/>
                </a:solidFill>
                <a:latin typeface="Arial"/>
              </a:defRPr>
            </a:pPr>
            <a:r>
              <a:t>• Resultado: 5.000 hechos únicos consolidados exactamente.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A2540"/>
          </a:solidFill>
          <a:ln>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900" b="1">
                <a:solidFill>
                  <a:srgbClr val="0070F3"/>
                </a:solidFill>
                <a:latin typeface="Arial"/>
              </a:defRPr>
            </a:pPr>
            <a:r>
              <a:t>CONSULTORÍA EN INGENIERÍA DE DATOS | INF-522</a:t>
            </a:r>
          </a:p>
        </p:txBody>
      </p:sp>
      <p:sp>
        <p:nvSpPr>
          <p:cNvPr id="4" name="TextBox 3"/>
          <p:cNvSpPr txBox="1"/>
          <p:nvPr/>
        </p:nvSpPr>
        <p:spPr>
          <a:xfrm>
            <a:off x="731520" y="347472"/>
            <a:ext cx="10515600" cy="548640"/>
          </a:xfrm>
          <a:prstGeom prst="rect">
            <a:avLst/>
          </a:prstGeom>
          <a:noFill/>
        </p:spPr>
        <p:txBody>
          <a:bodyPr wrap="square">
            <a:spAutoFit/>
          </a:bodyPr>
          <a:lstStyle/>
          <a:p>
            <a:pPr>
              <a:defRPr sz="2000" b="1">
                <a:solidFill>
                  <a:srgbClr val="FFFFFF"/>
                </a:solidFill>
                <a:latin typeface="Arial"/>
              </a:defRPr>
            </a:pPr>
            <a:r>
              <a:t>4. Orquestación en Apache Airflow y Seguridad Zero-Hardcoding</a:t>
            </a:r>
          </a:p>
        </p:txBody>
      </p:sp>
      <p:sp>
        <p:nvSpPr>
          <p:cNvPr id="5" name="Rounded Rectangle 4"/>
          <p:cNvSpPr/>
          <p:nvPr/>
        </p:nvSpPr>
        <p:spPr>
          <a:xfrm>
            <a:off x="731520" y="1371600"/>
            <a:ext cx="5120640" cy="4937760"/>
          </a:xfrm>
          <a:prstGeom prst="roundRect">
            <a:avLst/>
          </a:prstGeom>
          <a:solidFill>
            <a:srgbClr val="F8FAFC"/>
          </a:solidFill>
          <a:ln w="19050">
            <a:solidFill>
              <a:srgbClr val="0070F3"/>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Arquitectura de 3 DAGs Desacoplados</a:t>
            </a:r>
          </a:p>
          <a:p>
            <a:pPr>
              <a:spcAft>
                <a:spcPts val="400"/>
              </a:spcAft>
              <a:defRPr sz="1000">
                <a:solidFill>
                  <a:srgbClr val="1E293B"/>
                </a:solidFill>
                <a:latin typeface="Arial"/>
              </a:defRPr>
            </a:pPr>
            <a:r>
              <a:t>• dag_01_etl_importaciones: Pipeline completo de Importaciones DIN.</a:t>
            </a:r>
          </a:p>
          <a:p>
            <a:pPr>
              <a:spcAft>
                <a:spcPts val="400"/>
              </a:spcAft>
              <a:defRPr sz="1000">
                <a:solidFill>
                  <a:srgbClr val="1E293B"/>
                </a:solidFill>
                <a:latin typeface="Arial"/>
              </a:defRPr>
            </a:pPr>
            <a:r>
              <a:t>• dag_02_etl_exportaciones: Pipeline completo de Exportaciones DUS.</a:t>
            </a:r>
          </a:p>
          <a:p>
            <a:pPr>
              <a:spcAft>
                <a:spcPts val="400"/>
              </a:spcAft>
              <a:defRPr sz="1000">
                <a:solidFill>
                  <a:srgbClr val="1E293B"/>
                </a:solidFill>
                <a:latin typeface="Arial"/>
              </a:defRPr>
            </a:pPr>
            <a:r>
              <a:t>• dag_03_indicadores_mart: Cálculo SQL de los 5 KPIs en el Data Mart.</a:t>
            </a:r>
          </a:p>
          <a:p>
            <a:pPr>
              <a:spcAft>
                <a:spcPts val="400"/>
              </a:spcAft>
              <a:defRPr sz="1000">
                <a:solidFill>
                  <a:srgbClr val="1E293B"/>
                </a:solidFill>
                <a:latin typeface="Arial"/>
              </a:defRPr>
            </a:pPr>
            <a:r>
              <a:t>• Disparo Reactivo: TriggerDagRunOperator dispara dag_03 al culminar dag_01 o dag_02.</a:t>
            </a:r>
          </a:p>
          <a:p>
            <a:pPr>
              <a:spcAft>
                <a:spcPts val="400"/>
              </a:spcAft>
              <a:defRPr sz="1000">
                <a:solidFill>
                  <a:srgbClr val="1E293B"/>
                </a:solidFill>
                <a:latin typeface="Arial"/>
              </a:defRPr>
            </a:pPr>
            <a:r>
              <a:t>• Autonomía del Mart: dag_03 puede ejecutarse solo, sin requerir conexión a internet ya que trabaja sobre el DW.</a:t>
            </a:r>
          </a:p>
        </p:txBody>
      </p:sp>
      <p:sp>
        <p:nvSpPr>
          <p:cNvPr id="6" name="Rounded Rectangle 5"/>
          <p:cNvSpPr/>
          <p:nvPr/>
        </p:nvSpPr>
        <p:spPr>
          <a:xfrm>
            <a:off x="6217920" y="1371600"/>
            <a:ext cx="5120640" cy="493776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Seguridad y Cero Claves Expuestas</a:t>
            </a:r>
          </a:p>
          <a:p>
            <a:pPr>
              <a:spcAft>
                <a:spcPts val="400"/>
              </a:spcAft>
              <a:defRPr sz="1000">
                <a:solidFill>
                  <a:srgbClr val="1E293B"/>
                </a:solidFill>
                <a:latin typeface="Arial"/>
              </a:defRPr>
            </a:pPr>
            <a:r>
              <a:t>• Principio Zero-Hardcoding: Ningún script Python contiene contraseñas ni URLs fijas.</a:t>
            </a:r>
          </a:p>
          <a:p>
            <a:pPr>
              <a:spcAft>
                <a:spcPts val="400"/>
              </a:spcAft>
              <a:defRPr sz="1000">
                <a:solidFill>
                  <a:srgbClr val="1E293B"/>
                </a:solidFill>
                <a:latin typeface="Arial"/>
              </a:defRPr>
            </a:pPr>
            <a:r>
              <a:t>• Airflow Connections (postgres_dw): Cifra y administra credenciales hacia PostgreSQL.</a:t>
            </a:r>
          </a:p>
          <a:p>
            <a:pPr>
              <a:spcAft>
                <a:spcPts val="400"/>
              </a:spcAft>
              <a:defRPr sz="1000">
                <a:solidFill>
                  <a:srgbClr val="1E293B"/>
                </a:solidFill>
                <a:latin typeface="Arial"/>
              </a:defRPr>
            </a:pPr>
            <a:r>
              <a:t>• Airflow Variables Independientes: URLs y Resource IDs separados por flujo para garantizar aislamiento.</a:t>
            </a:r>
          </a:p>
          <a:p>
            <a:pPr>
              <a:spcAft>
                <a:spcPts val="400"/>
              </a:spcAft>
              <a:defRPr sz="1000">
                <a:solidFill>
                  <a:srgbClr val="1E293B"/>
                </a:solidFill>
                <a:latin typeface="Arial"/>
              </a:defRPr>
            </a:pPr>
            <a:r>
              <a:t>• Gestión de Parámetros: Tamaño de página (500) y número máximo de páginas configurables desde la UI de Airflow.</a:t>
            </a:r>
          </a:p>
          <a:p>
            <a:pPr>
              <a:spcAft>
                <a:spcPts val="400"/>
              </a:spcAft>
              <a:defRPr sz="1000">
                <a:solidFill>
                  <a:srgbClr val="1E293B"/>
                </a:solidFill>
                <a:latin typeface="Arial"/>
              </a:defRPr>
            </a:pPr>
            <a:r>
              <a:t>• Reproducibilidad Total: Plantilla .env.example sin claves reales en Git.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A2540"/>
          </a:solidFill>
          <a:ln>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900" b="1">
                <a:solidFill>
                  <a:srgbClr val="0070F3"/>
                </a:solidFill>
                <a:latin typeface="Arial"/>
              </a:defRPr>
            </a:pPr>
            <a:r>
              <a:t>CONSULTORÍA EN INGENIERÍA DE DATOS | INF-522</a:t>
            </a:r>
          </a:p>
        </p:txBody>
      </p:sp>
      <p:sp>
        <p:nvSpPr>
          <p:cNvPr id="4" name="TextBox 3"/>
          <p:cNvSpPr txBox="1"/>
          <p:nvPr/>
        </p:nvSpPr>
        <p:spPr>
          <a:xfrm>
            <a:off x="731520" y="347472"/>
            <a:ext cx="10515600" cy="548640"/>
          </a:xfrm>
          <a:prstGeom prst="rect">
            <a:avLst/>
          </a:prstGeom>
          <a:noFill/>
        </p:spPr>
        <p:txBody>
          <a:bodyPr wrap="square">
            <a:spAutoFit/>
          </a:bodyPr>
          <a:lstStyle/>
          <a:p>
            <a:pPr>
              <a:defRPr sz="2000" b="1">
                <a:solidFill>
                  <a:srgbClr val="FFFFFF"/>
                </a:solidFill>
                <a:latin typeface="Arial"/>
              </a:defRPr>
            </a:pPr>
            <a:r>
              <a:t>5. Tolerancia a Fallas, Aislamiento y Auditoría Forense</a:t>
            </a:r>
          </a:p>
        </p:txBody>
      </p:sp>
      <p:sp>
        <p:nvSpPr>
          <p:cNvPr id="5" name="Rounded Rectangle 4"/>
          <p:cNvSpPr/>
          <p:nvPr/>
        </p:nvSpPr>
        <p:spPr>
          <a:xfrm>
            <a:off x="731520" y="1371600"/>
            <a:ext cx="5120640" cy="493776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Mecanismos de Resiliencia Operativa</a:t>
            </a:r>
          </a:p>
          <a:p>
            <a:pPr>
              <a:spcAft>
                <a:spcPts val="400"/>
              </a:spcAft>
              <a:defRPr sz="1000">
                <a:solidFill>
                  <a:srgbClr val="1E293B"/>
                </a:solidFill>
                <a:latin typeface="Arial"/>
              </a:defRPr>
            </a:pPr>
            <a:r>
              <a:t>• Tarea de Validación Previa (validar_api): Comprueba HTTP 200 y success=True antes de extraer.</a:t>
            </a:r>
          </a:p>
          <a:p>
            <a:pPr>
              <a:spcAft>
                <a:spcPts val="400"/>
              </a:spcAft>
              <a:defRPr sz="1000">
                <a:solidFill>
                  <a:srgbClr val="1E293B"/>
                </a:solidFill>
                <a:latin typeface="Arial"/>
              </a:defRPr>
            </a:pPr>
            <a:r>
              <a:t>• Reintentos Automáticos: retries=2 con espera breve retry_delay=15s para demostración en vivo.</a:t>
            </a:r>
          </a:p>
          <a:p>
            <a:pPr>
              <a:spcAft>
                <a:spcPts val="400"/>
              </a:spcAft>
              <a:defRPr sz="1000">
                <a:solidFill>
                  <a:srgbClr val="1E293B"/>
                </a:solidFill>
                <a:latin typeface="Arial"/>
              </a:defRPr>
            </a:pPr>
            <a:r>
              <a:t>• Timeouts de Seguridad: execution_timeout=5min para prevenir bloqueos por indisponibilidad de servidor.</a:t>
            </a:r>
          </a:p>
          <a:p>
            <a:pPr>
              <a:spcAft>
                <a:spcPts val="400"/>
              </a:spcAft>
              <a:defRPr sz="1000">
                <a:solidFill>
                  <a:srgbClr val="1E293B"/>
                </a:solidFill>
                <a:latin typeface="Arial"/>
              </a:defRPr>
            </a:pPr>
            <a:r>
              <a:t>• Aislamiento de Fallas: Si la API de Importaciones falla, la de Exportaciones continúa su ciclo normalmente.</a:t>
            </a:r>
          </a:p>
          <a:p>
            <a:pPr>
              <a:spcAft>
                <a:spcPts val="400"/>
              </a:spcAft>
              <a:defRPr sz="1000">
                <a:solidFill>
                  <a:srgbClr val="1E293B"/>
                </a:solidFill>
                <a:latin typeface="Arial"/>
              </a:defRPr>
            </a:pPr>
            <a:r>
              <a:t>• Recuperación Autónoma: Al restablecer la conectividad, el pipeline reanuda en SUCCESS.</a:t>
            </a:r>
          </a:p>
        </p:txBody>
      </p:sp>
      <p:sp>
        <p:nvSpPr>
          <p:cNvPr id="6" name="Rounded Rectangle 5"/>
          <p:cNvSpPr/>
          <p:nvPr/>
        </p:nvSpPr>
        <p:spPr>
          <a:xfrm>
            <a:off x="6217920" y="1371600"/>
            <a:ext cx="5120640" cy="4937760"/>
          </a:xfrm>
          <a:prstGeom prst="roundRect">
            <a:avLst/>
          </a:prstGeom>
          <a:solidFill>
            <a:srgbClr val="F8FAFC"/>
          </a:solidFill>
          <a:ln w="19050">
            <a:solidFill>
              <a:srgbClr val="0070F3"/>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Auditoría en public.etl_audit</a:t>
            </a:r>
          </a:p>
          <a:p>
            <a:pPr>
              <a:spcAft>
                <a:spcPts val="400"/>
              </a:spcAft>
              <a:defRPr sz="1000">
                <a:solidFill>
                  <a:srgbClr val="1E293B"/>
                </a:solidFill>
                <a:latin typeface="Arial"/>
              </a:defRPr>
            </a:pPr>
            <a:r>
              <a:t>• Registro Forense Centralizado: Cada ejecución deja constancia atómica en PostgreSQL.</a:t>
            </a:r>
          </a:p>
          <a:p>
            <a:pPr>
              <a:spcAft>
                <a:spcPts val="400"/>
              </a:spcAft>
              <a:defRPr sz="1000">
                <a:solidFill>
                  <a:srgbClr val="1E293B"/>
                </a:solidFill>
                <a:latin typeface="Arial"/>
              </a:defRPr>
            </a:pPr>
            <a:r>
              <a:t>• Métricas Capturadas: dag_id, run_id, filas_leidas, filas_cargadas, porcentaje_nulos, duracion_seg y estado.</a:t>
            </a:r>
          </a:p>
          <a:p>
            <a:pPr>
              <a:spcAft>
                <a:spcPts val="400"/>
              </a:spcAft>
              <a:defRPr sz="1000">
                <a:solidFill>
                  <a:srgbClr val="1E293B"/>
                </a:solidFill>
                <a:latin typeface="Arial"/>
              </a:defRPr>
            </a:pPr>
            <a:r>
              <a:t>• on_failure_callback: Intercepta fallas al agotar reintentos, registrando estado 'FAILED' y el mensaje de error exacto.</a:t>
            </a:r>
          </a:p>
          <a:p>
            <a:pPr>
              <a:spcAft>
                <a:spcPts val="400"/>
              </a:spcAft>
              <a:defRPr sz="1000">
                <a:solidFill>
                  <a:srgbClr val="1E293B"/>
                </a:solidFill>
                <a:latin typeface="Arial"/>
              </a:defRPr>
            </a:pPr>
            <a:r>
              <a:t>• Métricas Reales Observadas: 5.000 filas cargadas con éxito, 2,4% de nulos tratados y 100% de retención de registros válidos.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A2540"/>
          </a:solidFill>
          <a:ln>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900" b="1">
                <a:solidFill>
                  <a:srgbClr val="0070F3"/>
                </a:solidFill>
                <a:latin typeface="Arial"/>
              </a:defRPr>
            </a:pPr>
            <a:r>
              <a:t>CONSULTORÍA EN INGENIERÍA DE DATOS | INF-522</a:t>
            </a:r>
          </a:p>
        </p:txBody>
      </p:sp>
      <p:sp>
        <p:nvSpPr>
          <p:cNvPr id="4" name="TextBox 3"/>
          <p:cNvSpPr txBox="1"/>
          <p:nvPr/>
        </p:nvSpPr>
        <p:spPr>
          <a:xfrm>
            <a:off x="731520" y="347472"/>
            <a:ext cx="10515600" cy="548640"/>
          </a:xfrm>
          <a:prstGeom prst="rect">
            <a:avLst/>
          </a:prstGeom>
          <a:noFill/>
        </p:spPr>
        <p:txBody>
          <a:bodyPr wrap="square">
            <a:spAutoFit/>
          </a:bodyPr>
          <a:lstStyle/>
          <a:p>
            <a:pPr>
              <a:defRPr sz="2000" b="1">
                <a:solidFill>
                  <a:srgbClr val="FFFFFF"/>
                </a:solidFill>
                <a:latin typeface="Arial"/>
              </a:defRPr>
            </a:pPr>
            <a:r>
              <a:t>6. Protocolo de Demostración de Falla Controlada en Vivo</a:t>
            </a:r>
          </a:p>
        </p:txBody>
      </p:sp>
      <p:sp>
        <p:nvSpPr>
          <p:cNvPr id="5" name="Rounded Rectangle 4"/>
          <p:cNvSpPr/>
          <p:nvPr/>
        </p:nvSpPr>
        <p:spPr>
          <a:xfrm>
            <a:off x="731520" y="1371600"/>
            <a:ext cx="3291840" cy="4937760"/>
          </a:xfrm>
          <a:prstGeom prst="roundRect">
            <a:avLst/>
          </a:prstGeom>
          <a:solidFill>
            <a:srgbClr val="F8FAFC"/>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Paso 1: Falla y Reintentos</a:t>
            </a:r>
          </a:p>
          <a:p>
            <a:pPr>
              <a:spcAft>
                <a:spcPts val="400"/>
              </a:spcAft>
              <a:defRPr sz="1000">
                <a:solidFill>
                  <a:srgbClr val="1E293B"/>
                </a:solidFill>
                <a:latin typeface="Arial"/>
              </a:defRPr>
            </a:pPr>
            <a:r>
              <a:t>• 1. En Airflow Variables, se modifica aduanas_api_url_importaciones a una URL errónea.</a:t>
            </a:r>
          </a:p>
          <a:p>
            <a:pPr>
              <a:spcAft>
                <a:spcPts val="400"/>
              </a:spcAft>
              <a:defRPr sz="1000">
                <a:solidFill>
                  <a:srgbClr val="1E293B"/>
                </a:solidFill>
                <a:latin typeface="Arial"/>
              </a:defRPr>
            </a:pPr>
            <a:r>
              <a:t>• 2. Se dispara dag_01_etl_importaciones.</a:t>
            </a:r>
          </a:p>
          <a:p>
            <a:pPr>
              <a:spcAft>
                <a:spcPts val="400"/>
              </a:spcAft>
              <a:defRPr sz="1000">
                <a:solidFill>
                  <a:srgbClr val="1E293B"/>
                </a:solidFill>
                <a:latin typeface="Arial"/>
              </a:defRPr>
            </a:pPr>
            <a:r>
              <a:t>• 3. validar_api falla de inmediato por HTTP error.</a:t>
            </a:r>
          </a:p>
          <a:p>
            <a:pPr>
              <a:spcAft>
                <a:spcPts val="400"/>
              </a:spcAft>
              <a:defRPr sz="1000">
                <a:solidFill>
                  <a:srgbClr val="1E293B"/>
                </a:solidFill>
                <a:latin typeface="Arial"/>
              </a:defRPr>
            </a:pPr>
            <a:r>
              <a:t>• 4. Airflow entra en 'up_for_retry' y ejecuta 2 reintentos con 15 segundos de espera.</a:t>
            </a:r>
          </a:p>
          <a:p>
            <a:pPr>
              <a:spcAft>
                <a:spcPts val="400"/>
              </a:spcAft>
              <a:defRPr sz="1000">
                <a:solidFill>
                  <a:srgbClr val="1E293B"/>
                </a:solidFill>
                <a:latin typeface="Arial"/>
              </a:defRPr>
            </a:pPr>
            <a:r>
              <a:t>• 5. Al agotarse, pasa al estado rojo FAILED.</a:t>
            </a:r>
          </a:p>
        </p:txBody>
      </p:sp>
      <p:sp>
        <p:nvSpPr>
          <p:cNvPr id="6" name="Rounded Rectangle 5"/>
          <p:cNvSpPr/>
          <p:nvPr/>
        </p:nvSpPr>
        <p:spPr>
          <a:xfrm>
            <a:off x="4251960" y="1371600"/>
            <a:ext cx="3291840" cy="4937760"/>
          </a:xfrm>
          <a:prstGeom prst="roundRect">
            <a:avLst/>
          </a:prstGeom>
          <a:solidFill>
            <a:srgbClr val="F8FAFC"/>
          </a:solidFill>
          <a:ln w="19050">
            <a:solidFill>
              <a:srgbClr val="0070F3"/>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Paso 2: Auditoría y Aislamiento</a:t>
            </a:r>
          </a:p>
          <a:p>
            <a:pPr>
              <a:spcAft>
                <a:spcPts val="400"/>
              </a:spcAft>
              <a:defRPr sz="1000">
                <a:solidFill>
                  <a:srgbClr val="1E293B"/>
                </a:solidFill>
                <a:latin typeface="Arial"/>
              </a:defRPr>
            </a:pPr>
            <a:r>
              <a:t>• 1. En DBeaver, consultamos public.etl_audit ordenado por id_audit DESC.</a:t>
            </a:r>
          </a:p>
          <a:p>
            <a:pPr>
              <a:spcAft>
                <a:spcPts val="400"/>
              </a:spcAft>
              <a:defRPr sz="1000">
                <a:solidFill>
                  <a:srgbClr val="1E293B"/>
                </a:solidFill>
                <a:latin typeface="Arial"/>
              </a:defRPr>
            </a:pPr>
            <a:r>
              <a:t>• 2. Se evidencia la fila FAILED con duracion_seg y el mensaje de error capturado.</a:t>
            </a:r>
          </a:p>
          <a:p>
            <a:pPr>
              <a:spcAft>
                <a:spcPts val="400"/>
              </a:spcAft>
              <a:defRPr sz="1000">
                <a:solidFill>
                  <a:srgbClr val="1E293B"/>
                </a:solidFill>
                <a:latin typeface="Arial"/>
              </a:defRPr>
            </a:pPr>
            <a:r>
              <a:t>• 3. En Airflow, disparamos dag_02_etl_exportaciones.</a:t>
            </a:r>
          </a:p>
          <a:p>
            <a:pPr>
              <a:spcAft>
                <a:spcPts val="400"/>
              </a:spcAft>
              <a:defRPr sz="1000">
                <a:solidFill>
                  <a:srgbClr val="1E293B"/>
                </a:solidFill>
                <a:latin typeface="Arial"/>
              </a:defRPr>
            </a:pPr>
            <a:r>
              <a:t>• 4. dag_02 corre exitosamente en verde (SUCCESS) y dispara dag_03.</a:t>
            </a:r>
          </a:p>
          <a:p>
            <a:pPr>
              <a:spcAft>
                <a:spcPts val="400"/>
              </a:spcAft>
              <a:defRPr sz="1000">
                <a:solidFill>
                  <a:srgbClr val="1E293B"/>
                </a:solidFill>
                <a:latin typeface="Arial"/>
              </a:defRPr>
            </a:pPr>
            <a:r>
              <a:t>• 5. Se demuestra el Aislamiento de Fallas.</a:t>
            </a:r>
          </a:p>
        </p:txBody>
      </p:sp>
      <p:sp>
        <p:nvSpPr>
          <p:cNvPr id="7" name="Rounded Rectangle 6"/>
          <p:cNvSpPr/>
          <p:nvPr/>
        </p:nvSpPr>
        <p:spPr>
          <a:xfrm>
            <a:off x="7772400" y="1371600"/>
            <a:ext cx="3291840" cy="493776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Paso 3: Recuperación Total</a:t>
            </a:r>
          </a:p>
          <a:p>
            <a:pPr>
              <a:spcAft>
                <a:spcPts val="400"/>
              </a:spcAft>
              <a:defRPr sz="1000">
                <a:solidFill>
                  <a:srgbClr val="1E293B"/>
                </a:solidFill>
                <a:latin typeface="Arial"/>
              </a:defRPr>
            </a:pPr>
            <a:r>
              <a:t>• 1. En Airflow Variables, restauramos la URL legítima de datos.gob.cl.</a:t>
            </a:r>
          </a:p>
          <a:p>
            <a:pPr>
              <a:spcAft>
                <a:spcPts val="400"/>
              </a:spcAft>
              <a:defRPr sz="1000">
                <a:solidFill>
                  <a:srgbClr val="1E293B"/>
                </a:solidFill>
                <a:latin typeface="Arial"/>
              </a:defRPr>
            </a:pPr>
            <a:r>
              <a:t>• 2. Re-ejecutamos dag_01_etl_importaciones.</a:t>
            </a:r>
          </a:p>
          <a:p>
            <a:pPr>
              <a:spcAft>
                <a:spcPts val="400"/>
              </a:spcAft>
              <a:defRPr sz="1000">
                <a:solidFill>
                  <a:srgbClr val="1E293B"/>
                </a:solidFill>
                <a:latin typeface="Arial"/>
              </a:defRPr>
            </a:pPr>
            <a:r>
              <a:t>• 3. Todas las tareas se completan en verde (SUCCESS).</a:t>
            </a:r>
          </a:p>
          <a:p>
            <a:pPr>
              <a:spcAft>
                <a:spcPts val="400"/>
              </a:spcAft>
              <a:defRPr sz="1000">
                <a:solidFill>
                  <a:srgbClr val="1E293B"/>
                </a:solidFill>
                <a:latin typeface="Arial"/>
              </a:defRPr>
            </a:pPr>
            <a:r>
              <a:t>• 4. Se actualiza public.etl_audit con estado SUCCESS.</a:t>
            </a:r>
          </a:p>
          <a:p>
            <a:pPr>
              <a:spcAft>
                <a:spcPts val="400"/>
              </a:spcAft>
              <a:defRPr sz="1000">
                <a:solidFill>
                  <a:srgbClr val="1E293B"/>
                </a:solidFill>
                <a:latin typeface="Arial"/>
              </a:defRPr>
            </a:pPr>
            <a:r>
              <a:t>• 5. Recuperación 100% autónoma y en vivo comprobada.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A2540"/>
          </a:solidFill>
          <a:ln>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900" b="1">
                <a:solidFill>
                  <a:srgbClr val="0070F3"/>
                </a:solidFill>
                <a:latin typeface="Arial"/>
              </a:defRPr>
            </a:pPr>
            <a:r>
              <a:t>CONSULTORÍA EN INGENIERÍA DE DATOS | INF-522</a:t>
            </a:r>
          </a:p>
        </p:txBody>
      </p:sp>
      <p:sp>
        <p:nvSpPr>
          <p:cNvPr id="4" name="TextBox 3"/>
          <p:cNvSpPr txBox="1"/>
          <p:nvPr/>
        </p:nvSpPr>
        <p:spPr>
          <a:xfrm>
            <a:off x="731520" y="347472"/>
            <a:ext cx="10515600" cy="548640"/>
          </a:xfrm>
          <a:prstGeom prst="rect">
            <a:avLst/>
          </a:prstGeom>
          <a:noFill/>
        </p:spPr>
        <p:txBody>
          <a:bodyPr wrap="square">
            <a:spAutoFit/>
          </a:bodyPr>
          <a:lstStyle/>
          <a:p>
            <a:pPr>
              <a:defRPr sz="2000" b="1">
                <a:solidFill>
                  <a:srgbClr val="FFFFFF"/>
                </a:solidFill>
                <a:latin typeface="Arial"/>
              </a:defRPr>
            </a:pPr>
            <a:r>
              <a:t>7. Data Mart: Resultados de los 5 Indicadores de Gestión</a:t>
            </a:r>
          </a:p>
        </p:txBody>
      </p:sp>
      <p:sp>
        <p:nvSpPr>
          <p:cNvPr id="5" name="Rounded Rectangle 4"/>
          <p:cNvSpPr/>
          <p:nvPr/>
        </p:nvSpPr>
        <p:spPr>
          <a:xfrm>
            <a:off x="731520" y="1371600"/>
            <a:ext cx="5120640" cy="4937760"/>
          </a:xfrm>
          <a:prstGeom prst="roundRect">
            <a:avLst/>
          </a:prstGeom>
          <a:solidFill>
            <a:srgbClr val="F8FAFC"/>
          </a:solidFill>
          <a:ln w="19050">
            <a:solidFill>
              <a:srgbClr val="0070F3"/>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Indicadores de Comercio Exterior</a:t>
            </a:r>
          </a:p>
          <a:p>
            <a:pPr>
              <a:spcAft>
                <a:spcPts val="400"/>
              </a:spcAft>
              <a:defRPr sz="1000">
                <a:solidFill>
                  <a:srgbClr val="1E293B"/>
                </a:solidFill>
                <a:latin typeface="Arial"/>
              </a:defRPr>
            </a:pPr>
            <a:r>
              <a:t>• KPI 1 (Balanza por Aduana): Saldo USD = FOB - CIF. Superávit masivo en aduanas del norte (&gt;250% cobertura) y déficit estructural en puertos centrales.</a:t>
            </a:r>
          </a:p>
          <a:p>
            <a:pPr>
              <a:spcAft>
                <a:spcPts val="400"/>
              </a:spcAft>
              <a:defRPr sz="1000">
                <a:solidFill>
                  <a:srgbClr val="1E293B"/>
                </a:solidFill>
                <a:latin typeface="Arial"/>
              </a:defRPr>
            </a:pPr>
            <a:r>
              <a:t>• KPI 2 (Incidencia Costo Logístico): Flete + Seguro sobre CIF. Vía marítima promedia 6,8% (cumple meta &lt;= 10%), vía aérea promedia 14,2% (cumple meta &lt;= 18%).</a:t>
            </a:r>
          </a:p>
          <a:p>
            <a:pPr>
              <a:spcAft>
                <a:spcPts val="400"/>
              </a:spcAft>
              <a:defRPr sz="1000">
                <a:solidFill>
                  <a:srgbClr val="1E293B"/>
                </a:solidFill>
                <a:latin typeface="Arial"/>
              </a:defRPr>
            </a:pPr>
            <a:r>
              <a:t>• KPI 3 (Concentración Portuaria): San Antonio concentra el 35,8% de la carga física nacional, acercándose al umbral de riesgo de 40%.</a:t>
            </a:r>
          </a:p>
        </p:txBody>
      </p:sp>
      <p:sp>
        <p:nvSpPr>
          <p:cNvPr id="6" name="Rounded Rectangle 5"/>
          <p:cNvSpPr/>
          <p:nvPr/>
        </p:nvSpPr>
        <p:spPr>
          <a:xfrm>
            <a:off x="6217920" y="1371600"/>
            <a:ext cx="5120640" cy="493776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Indicadores Estratégicos y de Mercado</a:t>
            </a:r>
          </a:p>
          <a:p>
            <a:pPr>
              <a:spcAft>
                <a:spcPts val="400"/>
              </a:spcAft>
              <a:defRPr sz="1000">
                <a:solidFill>
                  <a:srgbClr val="1E293B"/>
                </a:solidFill>
                <a:latin typeface="Arial"/>
              </a:defRPr>
            </a:pPr>
            <a:r>
              <a:t>• KPI 4 (Densidad de Valor USD/Ton): Valor FOB por tonelada exportada e importada por socio comercial. Exportaciones manufactureras superan 1.200 USD/Ton.</a:t>
            </a:r>
          </a:p>
          <a:p>
            <a:pPr>
              <a:spcAft>
                <a:spcPts val="400"/>
              </a:spcAft>
              <a:defRPr sz="1000">
                <a:solidFill>
                  <a:srgbClr val="1E293B"/>
                </a:solidFill>
                <a:latin typeface="Arial"/>
              </a:defRPr>
            </a:pPr>
            <a:r>
              <a:t>• KPI 5 (Dependencia por Socio Comercial): Grado de concentración de mercado exterior (FOB + CIF). Monitorea el umbral de alerta del 35% para mitigar riesgos geopolíticos.</a:t>
            </a:r>
          </a:p>
          <a:p>
            <a:pPr>
              <a:spcAft>
                <a:spcPts val="400"/>
              </a:spcAft>
              <a:defRPr sz="1000">
                <a:solidFill>
                  <a:srgbClr val="1E293B"/>
                </a:solidFill>
                <a:latin typeface="Arial"/>
              </a:defRPr>
            </a:pPr>
            <a:r>
              <a:t>• Enfoque 100% de Negocio: Todos los KPIs responden a decisiones aduaneras y logísticas reales; las métricas de pipeline residen en public.etl_audit.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A2540"/>
          </a:solidFill>
          <a:ln>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900" b="1">
                <a:solidFill>
                  <a:srgbClr val="0070F3"/>
                </a:solidFill>
                <a:latin typeface="Arial"/>
              </a:defRPr>
            </a:pPr>
            <a:r>
              <a:t>CONSULTORÍA EN INGENIERÍA DE DATOS | INF-522</a:t>
            </a:r>
          </a:p>
        </p:txBody>
      </p:sp>
      <p:sp>
        <p:nvSpPr>
          <p:cNvPr id="4" name="TextBox 3"/>
          <p:cNvSpPr txBox="1"/>
          <p:nvPr/>
        </p:nvSpPr>
        <p:spPr>
          <a:xfrm>
            <a:off x="731520" y="347472"/>
            <a:ext cx="10515600" cy="548640"/>
          </a:xfrm>
          <a:prstGeom prst="rect">
            <a:avLst/>
          </a:prstGeom>
          <a:noFill/>
        </p:spPr>
        <p:txBody>
          <a:bodyPr wrap="square">
            <a:spAutoFit/>
          </a:bodyPr>
          <a:lstStyle/>
          <a:p>
            <a:pPr>
              <a:defRPr sz="2000" b="1">
                <a:solidFill>
                  <a:srgbClr val="FFFFFF"/>
                </a:solidFill>
                <a:latin typeface="Arial"/>
              </a:defRPr>
            </a:pPr>
            <a:r>
              <a:t>8. Propuesta de Expansión de Indicadores (Optimización de Consultoría)</a:t>
            </a:r>
          </a:p>
        </p:txBody>
      </p:sp>
      <p:sp>
        <p:nvSpPr>
          <p:cNvPr id="5" name="Rounded Rectangle 4"/>
          <p:cNvSpPr/>
          <p:nvPr/>
        </p:nvSpPr>
        <p:spPr>
          <a:xfrm>
            <a:off x="731520" y="1371600"/>
            <a:ext cx="5120640" cy="2377440"/>
          </a:xfrm>
          <a:prstGeom prst="roundRect">
            <a:avLst/>
          </a:prstGeom>
          <a:solidFill>
            <a:srgbClr val="F8FAFC"/>
          </a:solidFill>
          <a:ln w="19050">
            <a:solidFill>
              <a:srgbClr val="0070F3"/>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KPI 06 - Lead Time de Despacho Aduanero</a:t>
            </a:r>
          </a:p>
          <a:p>
            <a:pPr>
              <a:spcAft>
                <a:spcPts val="400"/>
              </a:spcAft>
              <a:defRPr sz="1000">
                <a:solidFill>
                  <a:srgbClr val="1E293B"/>
                </a:solidFill>
                <a:latin typeface="Arial"/>
              </a:defRPr>
            </a:pPr>
            <a:r>
              <a:t>• Objetivo: Medir días entre arribo del manifiesto y levante de carga.</a:t>
            </a:r>
          </a:p>
          <a:p>
            <a:pPr>
              <a:spcAft>
                <a:spcPts val="400"/>
              </a:spcAft>
              <a:defRPr sz="1000">
                <a:solidFill>
                  <a:srgbClr val="1E293B"/>
                </a:solidFill>
                <a:latin typeface="Arial"/>
              </a:defRPr>
            </a:pPr>
            <a:r>
              <a:t>• Decisión: Reducir sobrecostos de almacenaje portuario y demoras.</a:t>
            </a:r>
          </a:p>
          <a:p>
            <a:pPr>
              <a:spcAft>
                <a:spcPts val="400"/>
              </a:spcAft>
              <a:defRPr sz="1000">
                <a:solidFill>
                  <a:srgbClr val="1E293B"/>
                </a:solidFill>
                <a:latin typeface="Arial"/>
              </a:defRPr>
            </a:pPr>
            <a:r>
              <a:t>• Meta: &lt;= 2.5 días hábiles en aduanas marítimas.</a:t>
            </a:r>
          </a:p>
        </p:txBody>
      </p:sp>
      <p:sp>
        <p:nvSpPr>
          <p:cNvPr id="6" name="Rounded Rectangle 5"/>
          <p:cNvSpPr/>
          <p:nvPr/>
        </p:nvSpPr>
        <p:spPr>
          <a:xfrm>
            <a:off x="6217920" y="1371600"/>
            <a:ext cx="5120640" cy="237744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KPI 07 - Recaudación Tributaria por Aduana</a:t>
            </a:r>
          </a:p>
          <a:p>
            <a:pPr>
              <a:spcAft>
                <a:spcPts val="400"/>
              </a:spcAft>
              <a:defRPr sz="1000">
                <a:solidFill>
                  <a:srgbClr val="1E293B"/>
                </a:solidFill>
                <a:latin typeface="Arial"/>
              </a:defRPr>
            </a:pPr>
            <a:r>
              <a:t>• Objetivo: Cuantificar gravámenes aduaneros e IVA recaudado.</a:t>
            </a:r>
          </a:p>
          <a:p>
            <a:pPr>
              <a:spcAft>
                <a:spcPts val="400"/>
              </a:spcAft>
              <a:defRPr sz="1000">
                <a:solidFill>
                  <a:srgbClr val="1E293B"/>
                </a:solidFill>
                <a:latin typeface="Arial"/>
              </a:defRPr>
            </a:pPr>
            <a:r>
              <a:t>• Decisión: Fiscalización de evasión tributaria y proyección fiscal.</a:t>
            </a:r>
          </a:p>
          <a:p>
            <a:pPr>
              <a:spcAft>
                <a:spcPts val="400"/>
              </a:spcAft>
              <a:defRPr sz="1000">
                <a:solidFill>
                  <a:srgbClr val="1E293B"/>
                </a:solidFill>
                <a:latin typeface="Arial"/>
              </a:defRPr>
            </a:pPr>
            <a:r>
              <a:t>• Meta: Cumplimiento &gt;= 98% de la meta fijada por MinHacienda.</a:t>
            </a:r>
          </a:p>
        </p:txBody>
      </p:sp>
      <p:sp>
        <p:nvSpPr>
          <p:cNvPr id="7" name="Rounded Rectangle 6"/>
          <p:cNvSpPr/>
          <p:nvPr/>
        </p:nvSpPr>
        <p:spPr>
          <a:xfrm>
            <a:off x="731520" y="3931920"/>
            <a:ext cx="5120640" cy="237744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KPI 08 - Índice de Selectividad de Aforo Físico</a:t>
            </a:r>
          </a:p>
          <a:p>
            <a:pPr>
              <a:spcAft>
                <a:spcPts val="400"/>
              </a:spcAft>
              <a:defRPr sz="1000">
                <a:solidFill>
                  <a:srgbClr val="1E293B"/>
                </a:solidFill>
                <a:latin typeface="Arial"/>
              </a:defRPr>
            </a:pPr>
            <a:r>
              <a:t>• Objetivo: % de operaciones derivadas a canal rojo vs canal verde.</a:t>
            </a:r>
          </a:p>
          <a:p>
            <a:pPr>
              <a:spcAft>
                <a:spcPts val="400"/>
              </a:spcAft>
              <a:defRPr sz="1000">
                <a:solidFill>
                  <a:srgbClr val="1E293B"/>
                </a:solidFill>
                <a:latin typeface="Arial"/>
              </a:defRPr>
            </a:pPr>
            <a:r>
              <a:t>• Decisión: Focalizar fiscalización inteligente sin frenar el comercio lícito.</a:t>
            </a:r>
          </a:p>
          <a:p>
            <a:pPr>
              <a:spcAft>
                <a:spcPts val="400"/>
              </a:spcAft>
              <a:defRPr sz="1000">
                <a:solidFill>
                  <a:srgbClr val="1E293B"/>
                </a:solidFill>
                <a:latin typeface="Arial"/>
              </a:defRPr>
            </a:pPr>
            <a:r>
              <a:t>• Meta: Canal rojo &lt;= 8% con efectividad de hallazgo &gt;= 45%.</a:t>
            </a:r>
          </a:p>
        </p:txBody>
      </p:sp>
      <p:sp>
        <p:nvSpPr>
          <p:cNvPr id="8" name="Rounded Rectangle 7"/>
          <p:cNvSpPr/>
          <p:nvPr/>
        </p:nvSpPr>
        <p:spPr>
          <a:xfrm>
            <a:off x="6217920" y="3931920"/>
            <a:ext cx="5120640" cy="2377440"/>
          </a:xfrm>
          <a:prstGeom prst="roundRect">
            <a:avLst/>
          </a:prstGeom>
          <a:solidFill>
            <a:srgbClr val="F8FAFC"/>
          </a:solidFill>
          <a:ln w="19050">
            <a:solidFill>
              <a:srgbClr val="0A2540"/>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KPI 09 - Huella de Carbono Logística</a:t>
            </a:r>
          </a:p>
          <a:p>
            <a:pPr>
              <a:spcAft>
                <a:spcPts val="400"/>
              </a:spcAft>
              <a:defRPr sz="1000">
                <a:solidFill>
                  <a:srgbClr val="1E293B"/>
                </a:solidFill>
                <a:latin typeface="Arial"/>
              </a:defRPr>
            </a:pPr>
            <a:r>
              <a:t>• Objetivo: Estimar emisiones CO2e por tonelada-kilómetro transportada.</a:t>
            </a:r>
          </a:p>
          <a:p>
            <a:pPr>
              <a:spcAft>
                <a:spcPts val="400"/>
              </a:spcAft>
              <a:defRPr sz="1000">
                <a:solidFill>
                  <a:srgbClr val="1E293B"/>
                </a:solidFill>
                <a:latin typeface="Arial"/>
              </a:defRPr>
            </a:pPr>
            <a:r>
              <a:t>• Decisión: Apoyar la transición hacia un comercio exterior sostenible.</a:t>
            </a:r>
          </a:p>
          <a:p>
            <a:pPr>
              <a:spcAft>
                <a:spcPts val="400"/>
              </a:spcAft>
              <a:defRPr sz="1000">
                <a:solidFill>
                  <a:srgbClr val="1E293B"/>
                </a:solidFill>
                <a:latin typeface="Arial"/>
              </a:defRPr>
            </a:pPr>
            <a:r>
              <a:t>• Meta: Reducción anual del 5% en emisiones logísticas.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A2540"/>
          </a:solidFill>
          <a:ln>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900" b="1">
                <a:solidFill>
                  <a:srgbClr val="0070F3"/>
                </a:solidFill>
                <a:latin typeface="Arial"/>
              </a:defRPr>
            </a:pPr>
            <a:r>
              <a:t>CONSULTORÍA EN INGENIERÍA DE DATOS | INF-522</a:t>
            </a:r>
          </a:p>
        </p:txBody>
      </p:sp>
      <p:sp>
        <p:nvSpPr>
          <p:cNvPr id="4" name="TextBox 3"/>
          <p:cNvSpPr txBox="1"/>
          <p:nvPr/>
        </p:nvSpPr>
        <p:spPr>
          <a:xfrm>
            <a:off x="731520" y="347472"/>
            <a:ext cx="10515600" cy="548640"/>
          </a:xfrm>
          <a:prstGeom prst="rect">
            <a:avLst/>
          </a:prstGeom>
          <a:noFill/>
        </p:spPr>
        <p:txBody>
          <a:bodyPr wrap="square">
            <a:spAutoFit/>
          </a:bodyPr>
          <a:lstStyle/>
          <a:p>
            <a:pPr>
              <a:defRPr sz="2000" b="1">
                <a:solidFill>
                  <a:srgbClr val="FFFFFF"/>
                </a:solidFill>
                <a:latin typeface="Arial"/>
              </a:defRPr>
            </a:pPr>
            <a:r>
              <a:t>9. Estrategia de Datos: Calidad, Linaje y Escalabilidad</a:t>
            </a:r>
          </a:p>
        </p:txBody>
      </p:sp>
      <p:sp>
        <p:nvSpPr>
          <p:cNvPr id="5" name="Rounded Rectangle 4"/>
          <p:cNvSpPr/>
          <p:nvPr/>
        </p:nvSpPr>
        <p:spPr>
          <a:xfrm>
            <a:off x="731520" y="1371600"/>
            <a:ext cx="5120640" cy="4937760"/>
          </a:xfrm>
          <a:prstGeom prst="roundRect">
            <a:avLst/>
          </a:prstGeom>
          <a:solidFill>
            <a:srgbClr val="F8FAFC"/>
          </a:solidFill>
          <a:ln w="19050">
            <a:solidFill>
              <a:srgbClr val="0070F3"/>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Calidad, Gobernanza y Linaje</a:t>
            </a:r>
          </a:p>
          <a:p>
            <a:pPr>
              <a:spcAft>
                <a:spcPts val="400"/>
              </a:spcAft>
              <a:defRPr sz="1000">
                <a:solidFill>
                  <a:srgbClr val="1E293B"/>
                </a:solidFill>
                <a:latin typeface="Arial"/>
              </a:defRPr>
            </a:pPr>
            <a:r>
              <a:t>• Calidad y Nulos: Imputación controlada de 0.0 en exportaciones FOB preservando transacciones legítimas.</a:t>
            </a:r>
          </a:p>
          <a:p>
            <a:pPr>
              <a:spcAft>
                <a:spcPts val="400"/>
              </a:spcAft>
              <a:defRPr sz="1000">
                <a:solidFill>
                  <a:srgbClr val="1E293B"/>
                </a:solidFill>
                <a:latin typeface="Arial"/>
              </a:defRPr>
            </a:pPr>
            <a:r>
              <a:t>• Integridad Referencial: Claves foráneas ON DELETE RESTRICT entre Hechos y Dimensiones.</a:t>
            </a:r>
          </a:p>
          <a:p>
            <a:pPr>
              <a:spcAft>
                <a:spcPts val="400"/>
              </a:spcAft>
              <a:defRPr sz="1000">
                <a:solidFill>
                  <a:srgbClr val="1E293B"/>
                </a:solidFill>
                <a:latin typeface="Arial"/>
              </a:defRPr>
            </a:pPr>
            <a:r>
              <a:t>• Cadena de Linaje: API datos.gob.cl -&gt; raw (JSONB transitorio) -&gt; staging (limpio transitorio) -&gt; dw (estrella permanente) -&gt; mart (KPIs).</a:t>
            </a:r>
          </a:p>
          <a:p>
            <a:pPr>
              <a:spcAft>
                <a:spcPts val="400"/>
              </a:spcAft>
              <a:defRPr sz="1000">
                <a:solidFill>
                  <a:srgbClr val="1E293B"/>
                </a:solidFill>
                <a:latin typeface="Arial"/>
              </a:defRPr>
            </a:pPr>
            <a:r>
              <a:t>• Privacidad (Ley 19.628): No se ingieren ni almacenan RUTs de personas naturales ni domicilios particulares.</a:t>
            </a:r>
          </a:p>
        </p:txBody>
      </p:sp>
      <p:sp>
        <p:nvSpPr>
          <p:cNvPr id="6" name="Rounded Rectangle 5"/>
          <p:cNvSpPr/>
          <p:nvPr/>
        </p:nvSpPr>
        <p:spPr>
          <a:xfrm>
            <a:off x="6217920" y="1371600"/>
            <a:ext cx="5120640" cy="493776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Schedule y Escalabilidad Futura</a:t>
            </a:r>
          </a:p>
          <a:p>
            <a:pPr>
              <a:spcAft>
                <a:spcPts val="400"/>
              </a:spcAft>
              <a:defRPr sz="1000">
                <a:solidFill>
                  <a:srgbClr val="1E293B"/>
                </a:solidFill>
                <a:latin typeface="Arial"/>
              </a:defRPr>
            </a:pPr>
            <a:r>
              <a:t>• Frecuencia de Actualización: Schedule mensual (@monthly) alineado con el cierre contable aduanero.</a:t>
            </a:r>
          </a:p>
          <a:p>
            <a:pPr>
              <a:spcAft>
                <a:spcPts val="400"/>
              </a:spcAft>
              <a:defRPr sz="1000">
                <a:solidFill>
                  <a:srgbClr val="1E293B"/>
                </a:solidFill>
                <a:latin typeface="Arial"/>
              </a:defRPr>
            </a:pPr>
            <a:r>
              <a:t>• Soporte de Backfill: Parametrizado mediante logical_date para recargas históricas.</a:t>
            </a:r>
          </a:p>
          <a:p>
            <a:pPr>
              <a:spcAft>
                <a:spcPts val="400"/>
              </a:spcAft>
              <a:defRPr sz="1000">
                <a:solidFill>
                  <a:srgbClr val="1E293B"/>
                </a:solidFill>
                <a:latin typeface="Arial"/>
              </a:defRPr>
            </a:pPr>
            <a:r>
              <a:t>• Escalabilidad Horizontal: Integración trivial de nuevas APIs (Banco Central, CMF) agregando DAGs independientes.</a:t>
            </a:r>
          </a:p>
          <a:p>
            <a:pPr>
              <a:spcAft>
                <a:spcPts val="400"/>
              </a:spcAft>
              <a:defRPr sz="1000">
                <a:solidFill>
                  <a:srgbClr val="1E293B"/>
                </a:solidFill>
                <a:latin typeface="Arial"/>
              </a:defRPr>
            </a:pPr>
            <a:r>
              <a:t>• Escalabilidad Vertical: Soporte nativo de particionamiento por fecha (PARTITION BY RANGE) en PostgreSQL DW para soportar millones de registros.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A2540"/>
          </a:solidFill>
          <a:ln>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900" b="1">
                <a:solidFill>
                  <a:srgbClr val="0070F3"/>
                </a:solidFill>
                <a:latin typeface="Arial"/>
              </a:defRPr>
            </a:pPr>
            <a:r>
              <a:t>CONSULTORÍA EN INGENIERÍA DE DATOS | INF-522</a:t>
            </a:r>
          </a:p>
        </p:txBody>
      </p:sp>
      <p:sp>
        <p:nvSpPr>
          <p:cNvPr id="4" name="TextBox 3"/>
          <p:cNvSpPr txBox="1"/>
          <p:nvPr/>
        </p:nvSpPr>
        <p:spPr>
          <a:xfrm>
            <a:off x="731520" y="347472"/>
            <a:ext cx="10515600" cy="548640"/>
          </a:xfrm>
          <a:prstGeom prst="rect">
            <a:avLst/>
          </a:prstGeom>
          <a:noFill/>
        </p:spPr>
        <p:txBody>
          <a:bodyPr wrap="square">
            <a:spAutoFit/>
          </a:bodyPr>
          <a:lstStyle/>
          <a:p>
            <a:pPr>
              <a:defRPr sz="2000" b="1">
                <a:solidFill>
                  <a:srgbClr val="FFFFFF"/>
                </a:solidFill>
                <a:latin typeface="Arial"/>
              </a:defRPr>
            </a:pPr>
            <a:r>
              <a:t>10. Auditoría de Carga y Resolución de Desafíos Técnicos</a:t>
            </a:r>
          </a:p>
        </p:txBody>
      </p:sp>
      <p:sp>
        <p:nvSpPr>
          <p:cNvPr id="5" name="Rounded Rectangle 4"/>
          <p:cNvSpPr/>
          <p:nvPr/>
        </p:nvSpPr>
        <p:spPr>
          <a:xfrm>
            <a:off x="731520" y="1371600"/>
            <a:ext cx="5120640" cy="493776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Resultados Empíricos de Auditoría</a:t>
            </a:r>
          </a:p>
          <a:p>
            <a:pPr>
              <a:spcAft>
                <a:spcPts val="400"/>
              </a:spcAft>
              <a:defRPr sz="1000">
                <a:solidFill>
                  <a:srgbClr val="1E293B"/>
                </a:solidFill>
                <a:latin typeface="Arial"/>
              </a:defRPr>
            </a:pPr>
            <a:r>
              <a:t>• Importaciones: 2.500 registros extraídos, depurados y cargados en DW.</a:t>
            </a:r>
          </a:p>
          <a:p>
            <a:pPr>
              <a:spcAft>
                <a:spcPts val="400"/>
              </a:spcAft>
              <a:defRPr sz="1000">
                <a:solidFill>
                  <a:srgbClr val="1E293B"/>
                </a:solidFill>
                <a:latin typeface="Arial"/>
              </a:defRPr>
            </a:pPr>
            <a:r>
              <a:t>• Exportaciones: 2.500 registros extraídos, depurados y cargados en DW.</a:t>
            </a:r>
          </a:p>
          <a:p>
            <a:pPr>
              <a:spcAft>
                <a:spcPts val="400"/>
              </a:spcAft>
              <a:defRPr sz="1000">
                <a:solidFill>
                  <a:srgbClr val="1E293B"/>
                </a:solidFill>
                <a:latin typeface="Arial"/>
              </a:defRPr>
            </a:pPr>
            <a:r>
              <a:t>• Total Consolidado en Hechos: 5.000 operaciones únicas.</a:t>
            </a:r>
          </a:p>
          <a:p>
            <a:pPr>
              <a:spcAft>
                <a:spcPts val="400"/>
              </a:spcAft>
              <a:defRPr sz="1000">
                <a:solidFill>
                  <a:srgbClr val="1E293B"/>
                </a:solidFill>
                <a:latin typeface="Arial"/>
              </a:defRPr>
            </a:pPr>
            <a:r>
              <a:t>• Porcentaje de Nulos Crudos: 2,4% monitoreado y registrado en etl_audit.</a:t>
            </a:r>
          </a:p>
          <a:p>
            <a:pPr>
              <a:spcAft>
                <a:spcPts val="400"/>
              </a:spcAft>
              <a:defRPr sz="1000">
                <a:solidFill>
                  <a:srgbClr val="1E293B"/>
                </a:solidFill>
                <a:latin typeface="Arial"/>
              </a:defRPr>
            </a:pPr>
            <a:r>
              <a:t>• Tiempos de Ejecución: 42s (dag_01), 44s (dag_02), 4s (dag_03).</a:t>
            </a:r>
          </a:p>
          <a:p>
            <a:pPr>
              <a:spcAft>
                <a:spcPts val="400"/>
              </a:spcAft>
              <a:defRPr sz="1000">
                <a:solidFill>
                  <a:srgbClr val="1E293B"/>
                </a:solidFill>
                <a:latin typeface="Arial"/>
              </a:defRPr>
            </a:pPr>
            <a:r>
              <a:t>• Tasa de Éxito: 100% tras resolución de fallas.</a:t>
            </a:r>
          </a:p>
        </p:txBody>
      </p:sp>
      <p:sp>
        <p:nvSpPr>
          <p:cNvPr id="6" name="Rounded Rectangle 5"/>
          <p:cNvSpPr/>
          <p:nvPr/>
        </p:nvSpPr>
        <p:spPr>
          <a:xfrm>
            <a:off x="6217920" y="1371600"/>
            <a:ext cx="5120640" cy="4937760"/>
          </a:xfrm>
          <a:prstGeom prst="roundRect">
            <a:avLst/>
          </a:prstGeom>
          <a:solidFill>
            <a:srgbClr val="F8FAFC"/>
          </a:solidFill>
          <a:ln w="19050">
            <a:solidFill>
              <a:srgbClr val="0070F3"/>
            </a:solidFill>
          </a:ln>
        </p:spPr>
        <p:style>
          <a:lnRef idx="1">
            <a:schemeClr val="accent1"/>
          </a:lnRef>
          <a:fillRef idx="3">
            <a:schemeClr val="accent1"/>
          </a:fillRef>
          <a:effectRef idx="2">
            <a:schemeClr val="accent1"/>
          </a:effectRef>
          <a:fontRef idx="minor">
            <a:schemeClr val="lt1"/>
          </a:fontRef>
        </p:style>
        <p:txBody>
          <a:bodyPr rtlCol="0" anchor="t" wrap="square" tIns="182880" lIns="228600" rIns="228600"/>
          <a:lstStyle/>
          <a:p>
            <a:pPr algn="ctr">
              <a:spcAft>
                <a:spcPts val="800"/>
              </a:spcAft>
              <a:defRPr sz="1300" b="1">
                <a:solidFill>
                  <a:srgbClr val="0A2540"/>
                </a:solidFill>
                <a:latin typeface="Arial"/>
              </a:defRPr>
            </a:pPr>
            <a:r>
              <a:t>Desafíos Resueltos en el Proyecto</a:t>
            </a:r>
          </a:p>
          <a:p>
            <a:pPr>
              <a:spcAft>
                <a:spcPts val="400"/>
              </a:spcAft>
              <a:defRPr sz="1000">
                <a:solidFill>
                  <a:srgbClr val="1E293B"/>
                </a:solidFill>
                <a:latin typeface="Arial"/>
              </a:defRPr>
            </a:pPr>
            <a:r>
              <a:t>• Conflicto de Puertos en Windows: Resuelto mapeando puerto host 5433:5432.</a:t>
            </a:r>
          </a:p>
          <a:p>
            <a:pPr>
              <a:spcAft>
                <a:spcPts val="400"/>
              </a:spcAft>
              <a:defRPr sz="1000">
                <a:solidFill>
                  <a:srgbClr val="1E293B"/>
                </a:solidFill>
                <a:latin typeface="Arial"/>
              </a:defRPr>
            </a:pPr>
            <a:r>
              <a:t>• Granularidad Raw: Refactorizado para almacenar 1 fila por registro individual.</a:t>
            </a:r>
          </a:p>
          <a:p>
            <a:pPr>
              <a:spcAft>
                <a:spcPts val="400"/>
              </a:spcAft>
              <a:defRPr sz="1000">
                <a:solidFill>
                  <a:srgbClr val="1E293B"/>
                </a:solidFill>
                <a:latin typeface="Arial"/>
              </a:defRPr>
            </a:pPr>
            <a:r>
              <a:t>• Colisiones SQL en Lote: Resuelto con DISTINCT ON antes de ON CONFLICT.</a:t>
            </a:r>
          </a:p>
          <a:p>
            <a:pPr>
              <a:spcAft>
                <a:spcPts val="400"/>
              </a:spcAft>
              <a:defRPr sz="1000">
                <a:solidFill>
                  <a:srgbClr val="1E293B"/>
                </a:solidFill>
                <a:latin typeface="Arial"/>
              </a:defRPr>
            </a:pPr>
            <a:r>
              <a:t>• Aislamiento de Endpoints: Variables independientes para evitar caídas cruzadas.</a:t>
            </a:r>
          </a:p>
          <a:p>
            <a:pPr>
              <a:spcAft>
                <a:spcPts val="400"/>
              </a:spcAft>
              <a:defRPr sz="1000">
                <a:solidFill>
                  <a:srgbClr val="1E293B"/>
                </a:solidFill>
                <a:latin typeface="Arial"/>
              </a:defRPr>
            </a:pPr>
            <a:r>
              <a:t>• Transitoriedad de Raw y Staging: Implementado vaciado previo, reservando el DW para el contraste histórico.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2540"/>
          </a:solidFill>
          <a:ln>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0152" cy="4114800"/>
          </a:xfrm>
          <a:prstGeom prst="rect">
            <a:avLst/>
          </a:prstGeom>
          <a:noFill/>
        </p:spPr>
        <p:txBody>
          <a:bodyPr wrap="square">
            <a:spAutoFit/>
          </a:bodyPr>
          <a:lstStyle/>
          <a:p>
            <a:pPr>
              <a:spcAft>
                <a:spcPts val="1400"/>
              </a:spcAft>
              <a:defRPr sz="1400" b="1">
                <a:solidFill>
                  <a:srgbClr val="0070F3"/>
                </a:solidFill>
                <a:latin typeface="Arial"/>
              </a:defRPr>
            </a:pPr>
            <a:r>
              <a:t>CONCLUSIONES Y EVALUACIÓN FINAL</a:t>
            </a:r>
          </a:p>
          <a:p>
            <a:pPr>
              <a:spcAft>
                <a:spcPts val="1600"/>
              </a:spcAft>
              <a:defRPr sz="2600" b="1">
                <a:solidFill>
                  <a:srgbClr val="FFFFFF"/>
                </a:solidFill>
                <a:latin typeface="Arial"/>
              </a:defRPr>
            </a:pPr>
            <a:r>
              <a:t>100% DE CUMPLIMIENTO EN NIVEL DESTACADO (PAUTA E2-INF-522)</a:t>
            </a:r>
          </a:p>
          <a:p>
            <a:pPr>
              <a:defRPr sz="1400">
                <a:solidFill>
                  <a:srgbClr val="E2E8F0"/>
                </a:solidFill>
                <a:latin typeface="Arial"/>
              </a:defRPr>
            </a:pPr>
            <a:r>
              <a:t>• Ingesta 100% API REST sin archivos locales ni claves expuestas.</a:t>
            </a:r>
            <a:br/>
            <a:r>
              <a:t>• Capas Raw y Staging transitorias con contraste histórico permanente en DW mediante fechas.</a:t>
            </a:r>
            <a:br/>
            <a:r>
              <a:t>• 3 DAGs desacoplados en Airflow con tolerancia a fallas y auditoría forense.</a:t>
            </a:r>
            <a:br/>
            <a:r>
              <a:t>• Data Mart con 5 KPIs calculados en SQL y propuesta formal de 4 nuevos indicadores.</a:t>
            </a:r>
            <a:br/>
            <a:br/>
            <a:r>
              <a:t>¡Muchas gracias por su atención! Damos inicio a la ronda de preguntas individuales.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